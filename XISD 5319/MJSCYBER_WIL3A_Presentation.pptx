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jentje Jones Sepuru" userId="68c432e9-b880-4da1-86ac-8def19268397" providerId="ADAL" clId="{943596E2-0B67-4D16-8F90-1F5D09A36C53}"/>
    <pc:docChg chg="modSld">
      <pc:chgData name="Matjentje Jones Sepuru" userId="68c432e9-b880-4da1-86ac-8def19268397" providerId="ADAL" clId="{943596E2-0B67-4D16-8F90-1F5D09A36C53}" dt="2026-06-15T13:32:48.518" v="11" actId="1038"/>
      <pc:docMkLst>
        <pc:docMk/>
      </pc:docMkLst>
      <pc:sldChg chg="modSp mod">
        <pc:chgData name="Matjentje Jones Sepuru" userId="68c432e9-b880-4da1-86ac-8def19268397" providerId="ADAL" clId="{943596E2-0B67-4D16-8F90-1F5D09A36C53}" dt="2026-06-15T13:29:46.475" v="3" actId="1036"/>
        <pc:sldMkLst>
          <pc:docMk/>
          <pc:sldMk cId="0" sldId="260"/>
        </pc:sldMkLst>
        <pc:spChg chg="mod">
          <ac:chgData name="Matjentje Jones Sepuru" userId="68c432e9-b880-4da1-86ac-8def19268397" providerId="ADAL" clId="{943596E2-0B67-4D16-8F90-1F5D09A36C53}" dt="2026-06-15T13:29:46.475" v="3" actId="10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tjentje Jones Sepuru" userId="68c432e9-b880-4da1-86ac-8def19268397" providerId="ADAL" clId="{943596E2-0B67-4D16-8F90-1F5D09A36C53}" dt="2026-06-15T13:29:40.949" v="0" actId="1036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Matjentje Jones Sepuru" userId="68c432e9-b880-4da1-86ac-8def19268397" providerId="ADAL" clId="{943596E2-0B67-4D16-8F90-1F5D09A36C53}" dt="2026-06-15T13:32:48.518" v="11" actId="1038"/>
        <pc:sldMkLst>
          <pc:docMk/>
          <pc:sldMk cId="0" sldId="263"/>
        </pc:sldMkLst>
        <pc:cxnChg chg="mod">
          <ac:chgData name="Matjentje Jones Sepuru" userId="68c432e9-b880-4da1-86ac-8def19268397" providerId="ADAL" clId="{943596E2-0B67-4D16-8F90-1F5D09A36C53}" dt="2026-06-15T13:31:20.474" v="4" actId="1076"/>
          <ac:cxnSpMkLst>
            <pc:docMk/>
            <pc:sldMk cId="0" sldId="263"/>
            <ac:cxnSpMk id="23" creationId="{00000000-0000-0000-0000-000000000000}"/>
          </ac:cxnSpMkLst>
        </pc:cxnChg>
        <pc:cxnChg chg="mod">
          <ac:chgData name="Matjentje Jones Sepuru" userId="68c432e9-b880-4da1-86ac-8def19268397" providerId="ADAL" clId="{943596E2-0B67-4D16-8F90-1F5D09A36C53}" dt="2026-06-15T13:31:31.299" v="5" actId="1076"/>
          <ac:cxnSpMkLst>
            <pc:docMk/>
            <pc:sldMk cId="0" sldId="263"/>
            <ac:cxnSpMk id="24" creationId="{00000000-0000-0000-0000-000000000000}"/>
          </ac:cxnSpMkLst>
        </pc:cxnChg>
        <pc:cxnChg chg="mod">
          <ac:chgData name="Matjentje Jones Sepuru" userId="68c432e9-b880-4da1-86ac-8def19268397" providerId="ADAL" clId="{943596E2-0B67-4D16-8F90-1F5D09A36C53}" dt="2026-06-15T13:32:48.518" v="11" actId="1038"/>
          <ac:cxnSpMkLst>
            <pc:docMk/>
            <pc:sldMk cId="0" sldId="263"/>
            <ac:cxnSpMk id="25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0BFBB-217A-4483-98FF-46E0B41BB946}" type="datetimeFigureOut">
              <a:rPr lang="en-ZA" smtClean="0"/>
              <a:t>2026/06/15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87A78-88BF-4D71-B593-8E8DB029A9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95957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87A78-88BF-4D71-B593-8E8DB029A9C9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962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1155680" cy="26879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WIL — WORK INTEGRATED LEARNING 3A  |  XISD5319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MJSCYBER Security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0">
                <a:solidFill>
                  <a:srgbClr val="F2F4F8"/>
                </a:solidFill>
                <a:latin typeface="Calibri"/>
              </a:rPr>
              <a:t>Web Application &amp; Database — Digital Transformation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754880"/>
            <a:ext cx="5760720" cy="1463040"/>
          </a:xfrm>
          <a:prstGeom prst="roundRect">
            <a:avLst/>
          </a:prstGeom>
          <a:solidFill>
            <a:srgbClr val="14162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4846320"/>
            <a:ext cx="5760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555A6E"/>
                </a:solidFill>
                <a:latin typeface="Calibri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212080"/>
            <a:ext cx="57607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Jones Sepuru  •  Khumela Sendelani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669280"/>
            <a:ext cx="5760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F2F4F8"/>
                </a:solidFill>
                <a:latin typeface="Calibri"/>
              </a:rPr>
              <a:t>MJSCYBER PTY LTD  ·  Reg 2022/201980/07  ·  Bochum, Limpopo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96012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A6E"/>
                </a:solidFill>
                <a:latin typeface="Calibri"/>
              </a:rPr>
              <a:t>What we will cover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</a:rPr>
              <a:t>❖  </a:t>
            </a:r>
            <a:r>
              <a:rPr sz="1800">
                <a:solidFill>
                  <a:srgbClr val="F2F4F8"/>
                </a:solidFill>
                <a:latin typeface="Calibri"/>
              </a:rPr>
              <a:t>About the Company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</a:rPr>
              <a:t>❖  </a:t>
            </a:r>
            <a:r>
              <a:rPr sz="1800">
                <a:solidFill>
                  <a:srgbClr val="F2F4F8"/>
                </a:solidFill>
                <a:latin typeface="Calibri"/>
              </a:rPr>
              <a:t>Vision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</a:rPr>
              <a:t>❖  </a:t>
            </a:r>
            <a:r>
              <a:rPr sz="1800">
                <a:solidFill>
                  <a:srgbClr val="F2F4F8"/>
                </a:solidFill>
                <a:latin typeface="Calibri"/>
              </a:rPr>
              <a:t>Mission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</a:rPr>
              <a:t>❖  </a:t>
            </a:r>
            <a:r>
              <a:rPr sz="1800">
                <a:solidFill>
                  <a:srgbClr val="F2F4F8"/>
                </a:solidFill>
                <a:latin typeface="Calibri"/>
              </a:rPr>
              <a:t>Research — Internal &amp; External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</a:rPr>
              <a:t>❖  </a:t>
            </a:r>
            <a:r>
              <a:rPr sz="1800">
                <a:solidFill>
                  <a:srgbClr val="F2F4F8"/>
                </a:solidFill>
                <a:latin typeface="Calibri"/>
              </a:rPr>
              <a:t>Summary of Results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</a:rPr>
              <a:t>❖  </a:t>
            </a:r>
            <a:r>
              <a:rPr sz="1800">
                <a:solidFill>
                  <a:srgbClr val="F2F4F8"/>
                </a:solidFill>
                <a:latin typeface="Calibri"/>
              </a:rPr>
              <a:t>Organogram / Organisational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</a:rPr>
              <a:t>❖  </a:t>
            </a:r>
            <a:r>
              <a:rPr sz="1800">
                <a:solidFill>
                  <a:srgbClr val="F2F4F8"/>
                </a:solidFill>
                <a:latin typeface="Calibri"/>
              </a:rPr>
              <a:t>Problems Experienced by Organisation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</a:rPr>
              <a:t>❖  </a:t>
            </a:r>
            <a:r>
              <a:rPr sz="1800">
                <a:solidFill>
                  <a:srgbClr val="F2F4F8"/>
                </a:solidFill>
                <a:latin typeface="Calibri"/>
              </a:rPr>
              <a:t>Database / Tables / ERD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</a:rPr>
              <a:t>❖  </a:t>
            </a:r>
            <a:r>
              <a:rPr sz="1800">
                <a:solidFill>
                  <a:srgbClr val="F2F4F8"/>
                </a:solidFill>
                <a:latin typeface="Calibri"/>
              </a:rPr>
              <a:t>Solution / Prototype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</a:rPr>
              <a:t>❖  </a:t>
            </a:r>
            <a:r>
              <a:rPr sz="1800">
                <a:solidFill>
                  <a:srgbClr val="F2F4F8"/>
                </a:solidFill>
                <a:latin typeface="Calibri"/>
              </a:rPr>
              <a:t>Screenshots of the Web App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</a:rPr>
              <a:t>❖  </a:t>
            </a:r>
            <a:r>
              <a:rPr sz="1800">
                <a:solidFill>
                  <a:srgbClr val="F2F4F8"/>
                </a:solidFill>
                <a:latin typeface="Calibri"/>
              </a:rPr>
              <a:t>Requirements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C0392B"/>
                </a:solidFill>
              </a:rPr>
              <a:t>❖  </a:t>
            </a:r>
            <a:r>
              <a:rPr sz="1800">
                <a:solidFill>
                  <a:srgbClr val="F2F4F8"/>
                </a:solidFill>
                <a:latin typeface="Calibri"/>
              </a:rPr>
              <a:t>Risks and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About the Company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ecurity_gu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521208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691640"/>
            <a:ext cx="56692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MJSCYBER PTY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148840"/>
            <a:ext cx="56692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Reg 2022/201980/07  ·  Established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60604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</a:rPr>
              <a:t>❖  </a:t>
            </a:r>
            <a:r>
              <a:rPr sz="1400">
                <a:solidFill>
                  <a:srgbClr val="F2F4F8"/>
                </a:solidFill>
                <a:latin typeface="Calibri"/>
              </a:rPr>
              <a:t>PSIRA-accredited private security training provider.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</a:rPr>
              <a:t>❖  </a:t>
            </a:r>
            <a:r>
              <a:rPr sz="1400">
                <a:solidFill>
                  <a:srgbClr val="F2F4F8"/>
                </a:solidFill>
                <a:latin typeface="Calibri"/>
              </a:rPr>
              <a:t>Based in Bochum, Limpopo — serving the entire province and beyond.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</a:rPr>
              <a:t>❖  </a:t>
            </a:r>
            <a:r>
              <a:rPr sz="1400">
                <a:solidFill>
                  <a:srgbClr val="F2F4F8"/>
                </a:solidFill>
                <a:latin typeface="Calibri"/>
              </a:rPr>
              <a:t>Trains guards from Grade E (entry) through to Grade A (senior management).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</a:rPr>
              <a:t>❖  </a:t>
            </a:r>
            <a:r>
              <a:rPr sz="1400">
                <a:solidFill>
                  <a:srgbClr val="F2F4F8"/>
                </a:solidFill>
                <a:latin typeface="Calibri"/>
              </a:rPr>
              <a:t>Offers VIP Protection, Armed Response and Construction-Site Security services.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</a:rPr>
              <a:t>❖  </a:t>
            </a:r>
            <a:r>
              <a:rPr sz="1400">
                <a:solidFill>
                  <a:srgbClr val="F2F4F8"/>
                </a:solidFill>
                <a:latin typeface="Calibri"/>
              </a:rPr>
              <a:t>5+ years of operational experience and continued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3657600"/>
          </a:xfrm>
          <a:prstGeom prst="roundRect">
            <a:avLst/>
          </a:prstGeom>
          <a:solidFill>
            <a:srgbClr val="141622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0" b="1">
                <a:solidFill>
                  <a:srgbClr val="C0392B"/>
                </a:solidFill>
                <a:latin typeface="Calibri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77440"/>
            <a:ext cx="9144000" cy="2377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A South Africa where every security credential is instantly verifiable, every site is protected by well-trained professionals, and every community — including our home of Bochum — benefits from safer public and commercial spaces.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846320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— MJSCYBER Vision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445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36615"/>
            <a:ext cx="10698480" cy="3657600"/>
          </a:xfrm>
          <a:prstGeom prst="roundRect">
            <a:avLst/>
          </a:prstGeom>
          <a:solidFill>
            <a:srgbClr val="141622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0" b="1">
                <a:solidFill>
                  <a:srgbClr val="C0392B"/>
                </a:solidFill>
                <a:latin typeface="Calibri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77440"/>
            <a:ext cx="9144000" cy="2377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To elevate the South African private-security sector by producing disciplined, certified and digitally-verifiable guards — and to deliver specialised protection services that meet the highest standards of professionalism.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846320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— MJSCYBER Mission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Research — Internal &amp; External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96012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A6E"/>
                </a:solidFill>
                <a:latin typeface="Calibri"/>
              </a:rPr>
              <a:t>Where we got our information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86400" cy="4389120"/>
          </a:xfrm>
          <a:prstGeom prst="roundRect">
            <a:avLst/>
          </a:prstGeom>
          <a:solidFill>
            <a:srgbClr val="141622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INTERNAL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Inside MJSCYBER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</a:rPr>
              <a:t>❖  </a:t>
            </a:r>
            <a:r>
              <a:rPr sz="1300">
                <a:solidFill>
                  <a:srgbClr val="F2F4F8"/>
                </a:solidFill>
                <a:latin typeface="Calibri"/>
              </a:rPr>
              <a:t>Interviews with the MJSCYBER director.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</a:rPr>
              <a:t>❖  </a:t>
            </a:r>
            <a:r>
              <a:rPr sz="1300">
                <a:solidFill>
                  <a:srgbClr val="F2F4F8"/>
                </a:solidFill>
                <a:latin typeface="Calibri"/>
              </a:rPr>
              <a:t>Walk-throughs of the manual registration process.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</a:rPr>
              <a:t>❖  </a:t>
            </a:r>
            <a:r>
              <a:rPr sz="1300">
                <a:solidFill>
                  <a:srgbClr val="F2F4F8"/>
                </a:solidFill>
                <a:latin typeface="Calibri"/>
              </a:rPr>
              <a:t>Existing PSIRA training material &amp; policies.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</a:rPr>
              <a:t>❖  </a:t>
            </a:r>
            <a:r>
              <a:rPr sz="1300">
                <a:solidFill>
                  <a:srgbClr val="F2F4F8"/>
                </a:solidFill>
                <a:latin typeface="Calibri"/>
              </a:rPr>
              <a:t>Sample paper certificates &amp; guard rosters.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</a:rPr>
              <a:t>❖  </a:t>
            </a:r>
            <a:r>
              <a:rPr sz="1300">
                <a:solidFill>
                  <a:srgbClr val="F2F4F8"/>
                </a:solidFill>
                <a:latin typeface="Calibri"/>
              </a:rPr>
              <a:t>Inventory of hardware/software currently in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486400" cy="4389120"/>
          </a:xfrm>
          <a:prstGeom prst="roundRect">
            <a:avLst/>
          </a:prstGeom>
          <a:solidFill>
            <a:srgbClr val="14162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EXTERNAL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Industry &amp; Regulation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</a:rPr>
              <a:t>❖  </a:t>
            </a:r>
            <a:r>
              <a:rPr sz="1300">
                <a:solidFill>
                  <a:srgbClr val="F2F4F8"/>
                </a:solidFill>
                <a:latin typeface="Calibri"/>
              </a:rPr>
              <a:t>PSIRA Act &amp; accreditation requirements.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</a:rPr>
              <a:t>❖  </a:t>
            </a:r>
            <a:r>
              <a:rPr sz="1300">
                <a:solidFill>
                  <a:srgbClr val="F2F4F8"/>
                </a:solidFill>
                <a:latin typeface="Calibri"/>
              </a:rPr>
              <a:t>POPIA — data-protection compliance.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</a:rPr>
              <a:t>❖  </a:t>
            </a:r>
            <a:r>
              <a:rPr sz="1300">
                <a:solidFill>
                  <a:srgbClr val="F2F4F8"/>
                </a:solidFill>
                <a:latin typeface="Calibri"/>
              </a:rPr>
              <a:t>Stripe &amp; PayFast payment-gateway documentation.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</a:rPr>
              <a:t>❖  </a:t>
            </a:r>
            <a:r>
              <a:rPr sz="1300">
                <a:solidFill>
                  <a:srgbClr val="F2F4F8"/>
                </a:solidFill>
                <a:latin typeface="Calibri"/>
              </a:rPr>
              <a:t>Benchmark websites of competing security schools.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C0392B"/>
                </a:solidFill>
              </a:rPr>
              <a:t>❖  </a:t>
            </a:r>
            <a:r>
              <a:rPr sz="1300">
                <a:solidFill>
                  <a:srgbClr val="F2F4F8"/>
                </a:solidFill>
                <a:latin typeface="Calibri"/>
              </a:rPr>
              <a:t>Open-source toolchain research (FastAPI, React, Mongo).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Summary of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96012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A6E"/>
                </a:solidFill>
                <a:latin typeface="Calibri"/>
              </a:rPr>
              <a:t>Headline findings from our 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651760" cy="1463040"/>
          </a:xfrm>
          <a:prstGeom prst="roundRect">
            <a:avLst/>
          </a:prstGeom>
          <a:solidFill>
            <a:srgbClr val="14162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2651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A6E"/>
                </a:solidFill>
                <a:latin typeface="Calibri"/>
              </a:rPr>
              <a:t>Paper-based 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828800"/>
            <a:ext cx="2651760" cy="1463040"/>
          </a:xfrm>
          <a:prstGeom prst="roundRect">
            <a:avLst/>
          </a:prstGeom>
          <a:solidFill>
            <a:srgbClr val="141622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196596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51760"/>
            <a:ext cx="2651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A6E"/>
                </a:solidFill>
                <a:latin typeface="Calibri"/>
              </a:rPr>
              <a:t>Avg. cert turnaround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651760" cy="1463040"/>
          </a:xfrm>
          <a:prstGeom prst="roundRect">
            <a:avLst/>
          </a:prstGeom>
          <a:solidFill>
            <a:srgbClr val="141622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96596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R9 500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51760"/>
            <a:ext cx="2651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A6E"/>
                </a:solidFill>
                <a:latin typeface="Calibri"/>
              </a:rPr>
              <a:t>Lost per month (admin)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828800"/>
            <a:ext cx="2651760" cy="1463040"/>
          </a:xfrm>
          <a:prstGeom prst="roundRect">
            <a:avLst/>
          </a:prstGeom>
          <a:solidFill>
            <a:srgbClr val="141622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1965960"/>
            <a:ext cx="2651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500+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651760"/>
            <a:ext cx="2651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A6E"/>
                </a:solidFill>
                <a:latin typeface="Calibri"/>
              </a:rPr>
              <a:t>Guards trained to 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2044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Key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</a:rPr>
              <a:t>❖  </a:t>
            </a:r>
            <a:r>
              <a:rPr sz="1400">
                <a:solidFill>
                  <a:srgbClr val="F2F4F8"/>
                </a:solidFill>
                <a:latin typeface="Calibri"/>
              </a:rPr>
              <a:t>MJSCYBER is competitive in training quality but trails competitors on digital presence.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</a:rPr>
              <a:t>❖  </a:t>
            </a:r>
            <a:r>
              <a:rPr sz="1400">
                <a:solidFill>
                  <a:srgbClr val="F2F4F8"/>
                </a:solidFill>
                <a:latin typeface="Calibri"/>
              </a:rPr>
              <a:t>Manual record-keeping is the single biggest source of administrative cost.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</a:rPr>
              <a:t>❖  </a:t>
            </a:r>
            <a:r>
              <a:rPr sz="1400">
                <a:solidFill>
                  <a:srgbClr val="F2F4F8"/>
                </a:solidFill>
                <a:latin typeface="Calibri"/>
              </a:rPr>
              <a:t>Corporate clients increasingly demand verifiable certificates before signing contracts.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</a:rPr>
              <a:t>❖  </a:t>
            </a:r>
            <a:r>
              <a:rPr sz="1400">
                <a:solidFill>
                  <a:srgbClr val="F2F4F8"/>
                </a:solidFill>
                <a:latin typeface="Calibri"/>
              </a:rPr>
              <a:t>All required technology is open-source — no licence cost barrier.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</a:rPr>
              <a:t>❖  </a:t>
            </a:r>
            <a:r>
              <a:rPr sz="1400">
                <a:solidFill>
                  <a:srgbClr val="F2F4F8"/>
                </a:solidFill>
                <a:latin typeface="Calibri"/>
              </a:rPr>
              <a:t>Local connectivity is workable with a cloud-hosted, lightweight web architecture.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Organogram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96012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A6E"/>
                </a:solidFill>
                <a:latin typeface="Calibri"/>
              </a:rPr>
              <a:t>MJSCYBER organisational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2468880" cy="9144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1993392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DIRECTOR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3172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F2F4F8"/>
                </a:solidFill>
                <a:latin typeface="Calibri"/>
              </a:rPr>
              <a:t>Mr M.J. Sepuru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63640" y="2743200"/>
            <a:ext cx="0" cy="36576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3108960"/>
            <a:ext cx="2743200" cy="822960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273552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TRAINING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F2F4F8"/>
                </a:solidFill>
                <a:latin typeface="Calibri"/>
              </a:rPr>
              <a:t>Curriculum &amp; Instructors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108960"/>
            <a:ext cx="2743200" cy="822960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3273552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OPERATIONS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61188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F2F4F8"/>
                </a:solidFill>
                <a:latin typeface="Calibri"/>
              </a:rPr>
              <a:t>VIP &amp; Site 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3108960"/>
            <a:ext cx="2743200" cy="822960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3273552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ADMIN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61188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F2F4F8"/>
                </a:solidFill>
                <a:latin typeface="Calibri"/>
              </a:rPr>
              <a:t>Finance &amp; Compliance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86000" y="3108960"/>
            <a:ext cx="7772400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76584" y="3886200"/>
            <a:ext cx="0" cy="82296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26480" y="3918634"/>
            <a:ext cx="0" cy="82296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85790" y="3955365"/>
            <a:ext cx="0" cy="82296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4389120"/>
            <a:ext cx="2743200" cy="731520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553712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Instructors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F2F4F8"/>
                </a:solidFill>
                <a:latin typeface="Calibri"/>
              </a:rPr>
              <a:t>Theory &amp; Practical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4389120"/>
            <a:ext cx="2743200" cy="731520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4553712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Guards / Drivers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89204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F2F4F8"/>
                </a:solidFill>
                <a:latin typeface="Calibri"/>
              </a:rPr>
              <a:t>Field Operatives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4389120"/>
            <a:ext cx="2743200" cy="731520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95360" y="4553712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Admin Clerk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89204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F2F4F8"/>
                </a:solidFill>
                <a:latin typeface="Calibri"/>
              </a:rPr>
              <a:t>Bookings &amp; Records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5532120"/>
            <a:ext cx="2743200" cy="7772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4880" y="5696712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IT / WEB ADMIN  (NEW)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603504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F2F4F8"/>
                </a:solidFill>
                <a:latin typeface="Calibri"/>
              </a:rPr>
              <a:t>Maintains digital platform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0" y="5120640"/>
            <a:ext cx="0" cy="41148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Problems Experienced by MJSCYBER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96012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A6E"/>
                </a:solidFill>
                <a:latin typeface="Calibri"/>
              </a:rPr>
              <a:t>Pain points identified during 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3657600" cy="1325880"/>
          </a:xfrm>
          <a:prstGeom prst="roundRect">
            <a:avLst/>
          </a:prstGeom>
          <a:solidFill>
            <a:srgbClr val="14162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0">
                <a:solidFill>
                  <a:srgbClr val="C0392B"/>
                </a:solidFill>
                <a:latin typeface="Calibri"/>
              </a:rPr>
              <a:t>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93392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Slow administration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377440"/>
            <a:ext cx="27432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Calibri"/>
              </a:rPr>
              <a:t>Manual registration &amp; grading takes 3+ days per student.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3657600" cy="1325880"/>
          </a:xfrm>
          <a:prstGeom prst="roundRect">
            <a:avLst/>
          </a:prstGeom>
          <a:solidFill>
            <a:srgbClr val="14162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965960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0">
                <a:solidFill>
                  <a:srgbClr val="C0392B"/>
                </a:solidFill>
                <a:latin typeface="Calibri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93392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Paper certificate fraud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377440"/>
            <a:ext cx="27432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Calibri"/>
              </a:rPr>
              <a:t>Printed certificates are easy to forge — damaging the brand.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28800"/>
            <a:ext cx="3657600" cy="1325880"/>
          </a:xfrm>
          <a:prstGeom prst="roundRect">
            <a:avLst/>
          </a:prstGeom>
          <a:solidFill>
            <a:srgbClr val="14162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965960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0">
                <a:solidFill>
                  <a:srgbClr val="C0392B"/>
                </a:solidFill>
                <a:latin typeface="Calibri"/>
              </a:rPr>
              <a:t>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993392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Booking chaos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377440"/>
            <a:ext cx="27432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Calibri"/>
              </a:rPr>
              <a:t>VIP &amp; site requests are taken by phone, often forgotten.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3657600" cy="1325880"/>
          </a:xfrm>
          <a:prstGeom prst="roundRect">
            <a:avLst/>
          </a:prstGeom>
          <a:solidFill>
            <a:srgbClr val="14162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0">
                <a:solidFill>
                  <a:srgbClr val="C0392B"/>
                </a:solidFill>
                <a:latin typeface="Calibri"/>
              </a:rPr>
              <a:t>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547872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Lost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31920"/>
            <a:ext cx="27432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Calibri"/>
              </a:rPr>
              <a:t>Roughly R9 500 per month is lost to admin inefficiency.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383280"/>
            <a:ext cx="3657600" cy="1325880"/>
          </a:xfrm>
          <a:prstGeom prst="roundRect">
            <a:avLst/>
          </a:prstGeom>
          <a:solidFill>
            <a:srgbClr val="14162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3520440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0">
                <a:solidFill>
                  <a:srgbClr val="C0392B"/>
                </a:solidFill>
                <a:latin typeface="Calibri"/>
              </a:rP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547872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No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931920"/>
            <a:ext cx="27432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Calibri"/>
              </a:rPr>
              <a:t>No dashboard showing enrolments, revenue or compliance.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383280"/>
            <a:ext cx="3657600" cy="1325880"/>
          </a:xfrm>
          <a:prstGeom prst="roundRect">
            <a:avLst/>
          </a:prstGeom>
          <a:solidFill>
            <a:srgbClr val="14162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3520440"/>
            <a:ext cx="548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0">
                <a:solidFill>
                  <a:srgbClr val="C0392B"/>
                </a:solidFill>
                <a:latin typeface="Calibri"/>
              </a:rP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547872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Poor online presence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931920"/>
            <a:ext cx="27432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Calibri"/>
              </a:rPr>
              <a:t>Competitors are easier to find online → lost enquiries.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Database / Tables / ERD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96012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A6E"/>
                </a:solidFill>
                <a:latin typeface="Calibri"/>
              </a:rPr>
              <a:t>MongoDB collections and their relationships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7772400" cy="53612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0" y="1691640"/>
            <a:ext cx="3474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Collections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031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users (auth + profile)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courses (catalogue)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enrolments (lifecycle)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certificates (serial + QR)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vip_requests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site_security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payment_transactions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login_attempts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Solution /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96012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A6E"/>
                </a:solidFill>
                <a:latin typeface="Calibri"/>
              </a:rPr>
              <a:t>A modern web platform that digitises every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6858000" cy="39750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0" y="1691640"/>
            <a:ext cx="4206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What we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Public marketing site (Landing, About, Verify)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Online student registration &amp; enrolment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Stripe Checkout for tuition payments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Digital grading &amp; qualification engine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Tamper-proof PDF certificates with QR code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VIP &amp; site-security booking module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Admin control centre with live KPIs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WhatsApp click-to-chat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Screenshots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96012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A6E"/>
                </a:solidFill>
                <a:latin typeface="Calibri"/>
              </a:rPr>
              <a:t>Public-facing pages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_landi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48640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8463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555A6E"/>
                </a:solidFill>
                <a:latin typeface="Calibri"/>
              </a:rPr>
              <a:t>Figure 1 — Landing page</a:t>
            </a:r>
          </a:p>
        </p:txBody>
      </p:sp>
      <p:pic>
        <p:nvPicPr>
          <p:cNvPr id="11" name="Picture 10" descr="02_abou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486400" cy="3108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8463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555A6E"/>
                </a:solidFill>
                <a:latin typeface="Calibri"/>
              </a:rPr>
              <a:t>Figure 2 — About page (mission, vision, timeline)</a:t>
            </a:r>
          </a:p>
        </p:txBody>
      </p:sp>
      <p:pic>
        <p:nvPicPr>
          <p:cNvPr id="13" name="Picture 12" descr="03_course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029200"/>
            <a:ext cx="5486400" cy="1280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555A6E"/>
                </a:solidFill>
                <a:latin typeface="Calibri"/>
              </a:rPr>
              <a:t>Figure 3 — Course catalogue</a:t>
            </a:r>
          </a:p>
        </p:txBody>
      </p:sp>
      <p:pic>
        <p:nvPicPr>
          <p:cNvPr id="15" name="Picture 14" descr="04_verify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5029200"/>
            <a:ext cx="5486400" cy="1280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63550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555A6E"/>
                </a:solidFill>
                <a:latin typeface="Calibri"/>
              </a:rPr>
              <a:t>Figure 4 — Public certificate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Screenshots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96012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A6E"/>
                </a:solidFill>
                <a:latin typeface="Calibri"/>
              </a:rPr>
              <a:t>Dashboards &amp; administration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9_student_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48640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8463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555A6E"/>
                </a:solidFill>
                <a:latin typeface="Calibri"/>
              </a:rPr>
              <a:t>Figure 5 — Student dashboard</a:t>
            </a:r>
          </a:p>
        </p:txBody>
      </p:sp>
      <p:pic>
        <p:nvPicPr>
          <p:cNvPr id="11" name="Picture 10" descr="06_admin_overview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486400" cy="3108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8463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555A6E"/>
                </a:solidFill>
                <a:latin typeface="Calibri"/>
              </a:rPr>
              <a:t>Figure 6 — Admin overview (KPIs &amp; revenue)</a:t>
            </a:r>
          </a:p>
        </p:txBody>
      </p:sp>
      <p:pic>
        <p:nvPicPr>
          <p:cNvPr id="13" name="Picture 12" descr="07_admin_enrolment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029200"/>
            <a:ext cx="5486400" cy="1280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555A6E"/>
                </a:solidFill>
                <a:latin typeface="Calibri"/>
              </a:rPr>
              <a:t>Figure 7 — Admin enrolments + grading</a:t>
            </a:r>
          </a:p>
        </p:txBody>
      </p:sp>
      <p:pic>
        <p:nvPicPr>
          <p:cNvPr id="15" name="Picture 14" descr="08_admin_courses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5029200"/>
            <a:ext cx="5486400" cy="1280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63550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555A6E"/>
                </a:solidFill>
                <a:latin typeface="Calibri"/>
              </a:rPr>
              <a:t>Figure 8 — Admin courses (Add/Edit)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96012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A6E"/>
                </a:solidFill>
                <a:latin typeface="Calibri"/>
              </a:rPr>
              <a:t>What the system needs to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FUNCTIONAL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User registration &amp; secure login (admin / student).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Course catalogue with online enrolment.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Online payments in ZAR (Stripe Checkout).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Grading workflow with auto pass/fail.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Issue &amp; download PDF certificates with QR.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Public certificate verification page.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VIP &amp; site-security booking and approval.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Live admin KPIs and revenue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TECHNICAL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Hardware: 2× laptops (i5 / 8 GB / 256 GB SSD), UPS, 4G router.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Hosting: Afrihost cPanel / Atlas-hosted MongoDB.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Backend: Python 3.11 + FastAPI + motor.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Frontend: React 19 + Tailwind + React Router.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Database: MongoDB 6+.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Integrations: Stripe (test) + ReportLab + qrcode.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Tools: VS Code, GitHub, Postman, Figma.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Operational: SSL (Let's Encrypt), daily backups.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Risks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96012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A6E"/>
                </a:solidFill>
                <a:latin typeface="Calibri"/>
              </a:rPr>
              <a:t>Trade-offs we have managed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286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TOP RISKS  (with mitigations)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Load-shedding — cloud hosting + UPS + 4G hotspot.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Scope creep — signed scope + change-request log.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Data-security breach — bcrypt, HTTPS, RBAC, encrypted store.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Key-person dependency (2-member team) — cross-training &amp; Git.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Rural low-bandwidth — lightweight FE, image compression.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Budget overrun — 9% contingency, prefer open-source tools.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EXPECTED 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70% reduction in administrative time per intake.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Tamper-proof certificates → stronger client trust.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Real-time scheduling replaces phone-based booking.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POPIA / PSIRA compliance baked in from day 1.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Cloud-ready architecture supports multi-campus growth.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C0392B"/>
                </a:solidFill>
              </a:rPr>
              <a:t>❖  </a:t>
            </a:r>
            <a:r>
              <a:rPr sz="1200">
                <a:solidFill>
                  <a:srgbClr val="F2F4F8"/>
                </a:solidFill>
                <a:latin typeface="Calibri"/>
              </a:rPr>
              <a:t>ROI payback in ~9 months on R 84 500 budget.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A6E"/>
                </a:solidFill>
                <a:latin typeface="Calibri"/>
              </a:rPr>
              <a:t>MJSCYBER Security School  ·  WIL 3A Presentation  ·  XISD5319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A6E"/>
                </a:solidFill>
                <a:latin typeface="Calibri"/>
              </a:rPr>
              <a:t>15 /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0">
                <a:solidFill>
                  <a:srgbClr val="F2F4F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5029200"/>
            <a:ext cx="5760720" cy="1280160"/>
          </a:xfrm>
          <a:prstGeom prst="roundRect">
            <a:avLst/>
          </a:prstGeom>
          <a:solidFill>
            <a:srgbClr val="141622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5120640"/>
            <a:ext cx="5760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Calibri"/>
              </a:rPr>
              <a:t>CONTACT MJSCYBER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486400"/>
            <a:ext cx="5760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📞  082 426 8567       ✉  mjscyber1@gmail.com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852160"/>
            <a:ext cx="5760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F2F4F8"/>
                </a:solidFill>
                <a:latin typeface="Calibri"/>
              </a:rPr>
              <a:t>Bochum, Limpopo, South Africa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10c8f44-f469-448f-bc0d-d781288ff01b}" enabled="0" method="" siteId="{e10c8f44-f469-448f-bc0d-d781288ff01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1281</Words>
  <Application>Microsoft Office PowerPoint</Application>
  <PresentationFormat>Widescreen</PresentationFormat>
  <Paragraphs>224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Matjentje Jones Sepuru</cp:lastModifiedBy>
  <cp:revision>1</cp:revision>
  <dcterms:created xsi:type="dcterms:W3CDTF">2013-01-27T09:14:16Z</dcterms:created>
  <dcterms:modified xsi:type="dcterms:W3CDTF">2026-06-15T13:32:56Z</dcterms:modified>
  <cp:category/>
</cp:coreProperties>
</file>